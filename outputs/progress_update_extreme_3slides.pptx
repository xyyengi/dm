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2D70B3"/>
            </a:solidFill>
          </c:spPr>
          <c:cat>
            <c:strRef>
              <c:f>Sheet1!$A$2:$A$6</c:f>
              <c:strCache>
                <c:ptCount val="5"/>
                <c:pt idx="0">
                  <c:v>MAE↓</c:v>
                </c:pt>
                <c:pt idx="1">
                  <c:v>RMSE↓</c:v>
                </c:pt>
                <c:pt idx="2">
                  <c:v>Coverage90↑</c:v>
                </c:pt>
                <c:pt idx="3">
                  <c:v>Width100↓</c:v>
                </c:pt>
                <c:pt idx="4">
                  <c:v>ACF MAE↓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0.1065</c:v>
                </c:pt>
                <c:pt idx="1">
                  <c:v>0.1506</c:v>
                </c:pt>
                <c:pt idx="2">
                  <c:v>0.8392</c:v>
                </c:pt>
                <c:pt idx="3">
                  <c:v>0.4472</c:v>
                </c:pt>
                <c:pt idx="4">
                  <c:v>0.0555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v-mix</c:v>
                </c:pt>
              </c:strCache>
            </c:strRef>
          </c:tx>
          <c:spPr>
            <a:solidFill>
              <a:srgbClr val="DAA741"/>
            </a:solidFill>
          </c:spPr>
          <c:cat>
            <c:strRef>
              <c:f>Sheet1!$A$2:$A$6</c:f>
              <c:strCache>
                <c:ptCount val="5"/>
                <c:pt idx="0">
                  <c:v>MAE↓</c:v>
                </c:pt>
                <c:pt idx="1">
                  <c:v>RMSE↓</c:v>
                </c:pt>
                <c:pt idx="2">
                  <c:v>Coverage90↑</c:v>
                </c:pt>
                <c:pt idx="3">
                  <c:v>Width100↓</c:v>
                </c:pt>
                <c:pt idx="4">
                  <c:v>ACF MAE↓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0.1006</c:v>
                </c:pt>
                <c:pt idx="1">
                  <c:v>0.1427</c:v>
                </c:pt>
                <c:pt idx="2">
                  <c:v>0.5596</c:v>
                </c:pt>
                <c:pt idx="3">
                  <c:v>0.1675</c:v>
                </c:pt>
                <c:pt idx="4">
                  <c:v>0.1026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V2 MAE</c:v>
                </c:pt>
              </c:strCache>
            </c:strRef>
          </c:tx>
          <c:spPr>
            <a:solidFill>
              <a:srgbClr val="2D70B3"/>
            </a:solidFill>
          </c:spPr>
          <c:cat>
            <c:strRef>
              <c:f>Sheet1!$A$2:$A$5</c:f>
              <c:strCache>
                <c:ptCount val="4"/>
                <c:pt idx="0">
                  <c:v>低新能源</c:v>
                </c:pt>
                <c:pt idx="1">
                  <c:v>高负荷</c:v>
                </c:pt>
                <c:pt idx="2">
                  <c:v>高净负荷</c:v>
                </c:pt>
                <c:pt idx="3">
                  <c:v>高爬坡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0.11153093811394127</c:v>
                </c:pt>
                <c:pt idx="1">
                  <c:v>0.10291266726567955</c:v>
                </c:pt>
                <c:pt idx="2">
                  <c:v>0.11610585578801258</c:v>
                </c:pt>
                <c:pt idx="3">
                  <c:v>0.10002934004707552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v-mix MAE</c:v>
                </c:pt>
              </c:strCache>
            </c:strRef>
          </c:tx>
          <c:spPr>
            <a:solidFill>
              <a:srgbClr val="DAA741"/>
            </a:solidFill>
          </c:spPr>
          <c:cat>
            <c:strRef>
              <c:f>Sheet1!$A$2:$A$5</c:f>
              <c:strCache>
                <c:ptCount val="4"/>
                <c:pt idx="0">
                  <c:v>低新能源</c:v>
                </c:pt>
                <c:pt idx="1">
                  <c:v>高负荷</c:v>
                </c:pt>
                <c:pt idx="2">
                  <c:v>高净负荷</c:v>
                </c:pt>
                <c:pt idx="3">
                  <c:v>高爬坡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0.08004943051901775</c:v>
                </c:pt>
                <c:pt idx="1">
                  <c:v>0.09609846345526597</c:v>
                </c:pt>
                <c:pt idx="2">
                  <c:v>0.11347168682717028</c:v>
                </c:pt>
                <c:pt idx="3">
                  <c:v>0.0929885376263182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V2 Cov90</c:v>
                </c:pt>
              </c:strCache>
            </c:strRef>
          </c:tx>
          <c:spPr>
            <a:solidFill>
              <a:srgbClr val="2D70B3"/>
            </a:solidFill>
          </c:spPr>
          <c:cat>
            <c:strRef>
              <c:f>Sheet1!$A$2:$A$5</c:f>
              <c:strCache>
                <c:ptCount val="4"/>
                <c:pt idx="0">
                  <c:v>低新能源</c:v>
                </c:pt>
                <c:pt idx="1">
                  <c:v>高负荷</c:v>
                </c:pt>
                <c:pt idx="2">
                  <c:v>高净负荷</c:v>
                </c:pt>
                <c:pt idx="3">
                  <c:v>高爬坡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84.46437312076078</c:v>
                </c:pt>
                <c:pt idx="1">
                  <c:v>84.40358401975597</c:v>
                </c:pt>
                <c:pt idx="2">
                  <c:v>83.47475515028707</c:v>
                </c:pt>
                <c:pt idx="3">
                  <c:v>84.18972276038657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v-mix Cov90</c:v>
                </c:pt>
              </c:strCache>
            </c:strRef>
          </c:tx>
          <c:spPr>
            <a:solidFill>
              <a:srgbClr val="DAA741"/>
            </a:solidFill>
          </c:spPr>
          <c:cat>
            <c:strRef>
              <c:f>Sheet1!$A$2:$A$5</c:f>
              <c:strCache>
                <c:ptCount val="4"/>
                <c:pt idx="0">
                  <c:v>低新能源</c:v>
                </c:pt>
                <c:pt idx="1">
                  <c:v>高负荷</c:v>
                </c:pt>
                <c:pt idx="2">
                  <c:v>高净负荷</c:v>
                </c:pt>
                <c:pt idx="3">
                  <c:v>高爬坡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64.94388504300399</c:v>
                </c:pt>
                <c:pt idx="1">
                  <c:v>55.46965118357135</c:v>
                </c:pt>
                <c:pt idx="2">
                  <c:v>54.64581222559946</c:v>
                </c:pt>
                <c:pt idx="3">
                  <c:v>57.53472576277716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85216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050" b="1">
                <a:solidFill>
                  <a:srgbClr val="DAA741"/>
                </a:solidFill>
                <a:latin typeface="Microsoft YaHei"/>
              </a:defRPr>
            </a:pPr>
            <a:r>
              <a:t>任务3：源荷不确定性多日场景生成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2300" b="1">
                <a:solidFill>
                  <a:srgbClr val="142D4A"/>
                </a:solidFill>
                <a:latin typeface="Microsoft YaHei"/>
              </a:defRPr>
            </a:pPr>
            <a:r>
              <a:t>研究进展：面向极端风险的条件场景生成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4709160" cy="53035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550" b="1">
                <a:solidFill>
                  <a:srgbClr val="23282D"/>
                </a:solidFill>
                <a:latin typeface="Microsoft YaHei"/>
              </a:defRPr>
            </a:pPr>
            <a:r>
              <a:t>目标：在已有预测信息基础上，生成风、光、荷联合多日场景，同时兼顾趋势跟随、概率覆盖和极端风险刻画。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20000">
              <a:spcAft>
                <a:spcPts val="500"/>
              </a:spcAft>
              <a:defRPr sz="1350">
                <a:solidFill>
                  <a:srgbClr val="23282D"/>
                </a:solidFill>
                <a:latin typeface="Microsoft YaHei"/>
              </a:defRPr>
            </a:pPr>
            <a:r>
              <a:t>结合预测数据作为条件信息，不再单独展开预测模型本身；</a:t>
            </a:r>
          </a:p>
          <a:p>
            <a:pPr marL="180000" indent="-120000">
              <a:spcAft>
                <a:spcPts val="500"/>
              </a:spcAft>
              <a:defRPr sz="1350">
                <a:solidFill>
                  <a:srgbClr val="23282D"/>
                </a:solidFill>
                <a:latin typeface="Microsoft YaHei"/>
              </a:defRPr>
            </a:pPr>
            <a:r>
              <a:t>当前阶段重点评价条件扩散生成质量，尤其是覆盖率、尾部风险和极端爬坡；</a:t>
            </a:r>
          </a:p>
          <a:p>
            <a:pPr marL="180000" indent="-120000">
              <a:spcAft>
                <a:spcPts val="500"/>
              </a:spcAft>
              <a:defRPr sz="1350">
                <a:solidFill>
                  <a:srgbClr val="23282D"/>
                </a:solidFill>
                <a:latin typeface="Microsoft YaHei"/>
              </a:defRPr>
            </a:pPr>
            <a:r>
              <a:t>后续再接入节点级预测数据，并扩展空间相关性建模。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353312"/>
            <a:ext cx="1170432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536192"/>
            <a:ext cx="987552" cy="21031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1250" b="1">
                <a:solidFill>
                  <a:srgbClr val="2D70B3"/>
                </a:solidFill>
                <a:latin typeface="Microsoft YaHei"/>
              </a:defRPr>
            </a:pPr>
            <a:r>
              <a:t>预测数据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28800"/>
            <a:ext cx="987552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869" b="0">
                <a:solidFill>
                  <a:srgbClr val="5A646E"/>
                </a:solidFill>
                <a:latin typeface="Microsoft YaHei"/>
              </a:defRPr>
            </a:pPr>
            <a:r>
              <a:t>趋势/基线条件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1673352"/>
            <a:ext cx="256032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1800" b="1">
                <a:solidFill>
                  <a:srgbClr val="5A64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53312"/>
            <a:ext cx="1170432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59" y="1536192"/>
            <a:ext cx="987552" cy="21031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1250" b="1">
                <a:solidFill>
                  <a:srgbClr val="159690"/>
                </a:solidFill>
                <a:latin typeface="Microsoft YaHei"/>
              </a:defRPr>
            </a:pPr>
            <a:r>
              <a:t>时间特征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1828800"/>
            <a:ext cx="987552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869" b="0">
                <a:solidFill>
                  <a:srgbClr val="5A646E"/>
                </a:solidFill>
                <a:latin typeface="Microsoft YaHei"/>
              </a:defRPr>
            </a:pPr>
            <a:r>
              <a:t>日周期与多日窗口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673352"/>
            <a:ext cx="256032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1800" b="1">
                <a:solidFill>
                  <a:srgbClr val="5A64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353312"/>
            <a:ext cx="1170432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536192"/>
            <a:ext cx="987552" cy="21031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1250" b="1">
                <a:solidFill>
                  <a:srgbClr val="142D4A"/>
                </a:solidFill>
                <a:latin typeface="Microsoft YaHei"/>
              </a:defRPr>
            </a:pPr>
            <a:r>
              <a:t>条件扩散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828800"/>
            <a:ext cx="987552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869" b="0">
                <a:solidFill>
                  <a:srgbClr val="5A646E"/>
                </a:solidFill>
                <a:latin typeface="Microsoft YaHei"/>
              </a:defRPr>
            </a:pPr>
            <a:r>
              <a:t>生成联合场景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1784" y="1673352"/>
            <a:ext cx="256032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1800" b="1">
                <a:solidFill>
                  <a:srgbClr val="5A64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1353312"/>
            <a:ext cx="1170432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1536192"/>
            <a:ext cx="987552" cy="21031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1250" b="1">
                <a:solidFill>
                  <a:srgbClr val="DAA741"/>
                </a:solidFill>
                <a:latin typeface="Microsoft YaHei"/>
              </a:defRPr>
            </a:pPr>
            <a:r>
              <a:t>风险评价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828800"/>
            <a:ext cx="987552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>
              <a:defRPr sz="869" b="0">
                <a:solidFill>
                  <a:srgbClr val="5A646E"/>
                </a:solidFill>
                <a:latin typeface="Microsoft YaHei"/>
              </a:defRPr>
            </a:pPr>
            <a:r>
              <a:t>极端/尾部/校准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2779776"/>
            <a:ext cx="54406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2944368"/>
            <a:ext cx="5074920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350" b="1">
                <a:solidFill>
                  <a:srgbClr val="142D4A"/>
                </a:solidFill>
                <a:latin typeface="Microsoft YaHei"/>
              </a:defRPr>
            </a:pPr>
            <a:r>
              <a:t>本次更新不再写成“模型全面提升”，而是突出诊断结论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3310128"/>
            <a:ext cx="49194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20000">
              <a:spcAft>
                <a:spcPts val="500"/>
              </a:spcAft>
              <a:defRPr sz="1310">
                <a:solidFill>
                  <a:srgbClr val="23282D"/>
                </a:solidFill>
                <a:latin typeface="Microsoft YaHei"/>
              </a:defRPr>
            </a:pPr>
            <a:r>
              <a:t>v-mix 更接近真实中心轨迹，MAE / RMSE 更低；</a:t>
            </a:r>
          </a:p>
          <a:p>
            <a:pPr marL="180000" indent="-120000">
              <a:spcAft>
                <a:spcPts val="500"/>
              </a:spcAft>
              <a:defRPr sz="1310">
                <a:solidFill>
                  <a:srgbClr val="23282D"/>
                </a:solidFill>
                <a:latin typeface="Microsoft YaHei"/>
              </a:defRPr>
            </a:pPr>
            <a:r>
              <a:t>但生成区间明显变窄，Coverage 和 Rank Histogram 暴露欠覆盖；</a:t>
            </a:r>
          </a:p>
          <a:p>
            <a:pPr marL="180000" indent="-120000">
              <a:spcAft>
                <a:spcPts val="500"/>
              </a:spcAft>
              <a:defRPr sz="1310">
                <a:solidFill>
                  <a:srgbClr val="23282D"/>
                </a:solidFill>
                <a:latin typeface="Microsoft YaHei"/>
              </a:defRPr>
            </a:pPr>
            <a:r>
              <a:t>风电尾部风险是当前最关键短板，需要优先诊断 guidance 强度和条件表达。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047488"/>
            <a:ext cx="1993392" cy="713232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129783"/>
            <a:ext cx="1755648" cy="16459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1">
                <a:solidFill>
                  <a:srgbClr val="5A646E"/>
                </a:solidFill>
                <a:latin typeface="Microsoft YaHei"/>
              </a:defRPr>
            </a:pPr>
            <a:r>
              <a:t>测试窗口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303520"/>
            <a:ext cx="841248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700" b="1">
                <a:solidFill>
                  <a:srgbClr val="2D70B3"/>
                </a:solidFill>
                <a:latin typeface="Microsoft YaHei"/>
              </a:defRPr>
            </a:pPr>
            <a:r>
              <a:t>5381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5340096"/>
            <a:ext cx="896112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0">
                <a:solidFill>
                  <a:srgbClr val="5A646E"/>
                </a:solidFill>
                <a:latin typeface="Microsoft YaHei"/>
              </a:defRPr>
            </a:pPr>
            <a:r>
              <a:t>个 168h 窗口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98064" y="5047488"/>
            <a:ext cx="1993392" cy="713232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792" y="5129783"/>
            <a:ext cx="1755648" cy="16459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1">
                <a:solidFill>
                  <a:srgbClr val="5A646E"/>
                </a:solidFill>
                <a:latin typeface="Microsoft YaHei"/>
              </a:defRPr>
            </a:pPr>
            <a:r>
              <a:t>生成样本点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5303520"/>
            <a:ext cx="841248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700" b="1">
                <a:solidFill>
                  <a:srgbClr val="159690"/>
                </a:solidFill>
                <a:latin typeface="Microsoft YaHei"/>
              </a:defRPr>
            </a:pPr>
            <a:r>
              <a:t>271万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340096"/>
            <a:ext cx="896112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0">
                <a:solidFill>
                  <a:srgbClr val="5A646E"/>
                </a:solidFill>
                <a:latin typeface="Microsoft YaHei"/>
              </a:defRPr>
            </a:pPr>
            <a:r>
              <a:t>风/光/荷合计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5047488"/>
            <a:ext cx="1993392" cy="713232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5129783"/>
            <a:ext cx="1755648" cy="16459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1">
                <a:solidFill>
                  <a:srgbClr val="5A646E"/>
                </a:solidFill>
                <a:latin typeface="Microsoft YaHei"/>
              </a:defRPr>
            </a:pPr>
            <a:r>
              <a:t>极端子集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5303520"/>
            <a:ext cx="841248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700" b="1">
                <a:solidFill>
                  <a:srgbClr val="DAA741"/>
                </a:solidFill>
                <a:latin typeface="Microsoft YaHei"/>
              </a:defRPr>
            </a:pPr>
            <a:r>
              <a:t>4类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8736" y="5340096"/>
            <a:ext cx="896112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0">
                <a:solidFill>
                  <a:srgbClr val="5A646E"/>
                </a:solidFill>
                <a:latin typeface="Microsoft YaHei"/>
              </a:defRPr>
            </a:pPr>
            <a:r>
              <a:t>低新能源/高负荷/高净负荷/高爬坡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50" b="0">
                <a:solidFill>
                  <a:srgbClr val="5A646E"/>
                </a:solidFill>
                <a:latin typeface="Microsoft YaHei"/>
              </a:defRPr>
            </a:pPr>
            <a:r>
              <a:t>结合预测数据的条件扩散场景生成与极端风险评价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5486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>
              <a:defRPr sz="850" b="0">
                <a:solidFill>
                  <a:srgbClr val="5A646E"/>
                </a:solidFill>
                <a:latin typeface="Microsoft YaHei"/>
              </a:defRPr>
            </a:pPr>
            <a: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85216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050" b="1">
                <a:solidFill>
                  <a:srgbClr val="DAA741"/>
                </a:solidFill>
                <a:latin typeface="Microsoft YaHei"/>
              </a:defRPr>
            </a:pPr>
            <a:r>
              <a:t>任务3：源荷不确定性多日场景生成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2300" b="1">
                <a:solidFill>
                  <a:srgbClr val="142D4A"/>
                </a:solidFill>
                <a:latin typeface="Microsoft YaHei"/>
              </a:defRPr>
            </a:pPr>
            <a:r>
              <a:t>全测试集结果：v-mix 提升中心精度，但区间覆盖收窄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0607040" cy="32004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300" b="0">
                <a:solidFill>
                  <a:srgbClr val="5A646E"/>
                </a:solidFill>
                <a:latin typeface="Microsoft YaHei"/>
              </a:defRPr>
            </a:pPr>
            <a:r>
              <a:t>V2 作为稳健条件生成基线；v-mix 采用残差建模、预测条件拼接和误差区间 guidance。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719072"/>
          <a:ext cx="59893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719072"/>
            <a:ext cx="4526280" cy="3246120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22592" y="1920240"/>
            <a:ext cx="4114800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400" b="1">
                <a:solidFill>
                  <a:srgbClr val="142D4A"/>
                </a:solidFill>
                <a:latin typeface="Microsoft YaHei"/>
              </a:defRPr>
            </a:pPr>
            <a:r>
              <a:t>关键读数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286000"/>
            <a:ext cx="1993392" cy="713232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2368296"/>
            <a:ext cx="1755648" cy="16459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1">
                <a:solidFill>
                  <a:srgbClr val="5A646E"/>
                </a:solidFill>
                <a:latin typeface="Microsoft YaHei"/>
              </a:defRPr>
            </a:pPr>
            <a:r>
              <a:t>平均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542032"/>
            <a:ext cx="841248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700" b="1">
                <a:solidFill>
                  <a:srgbClr val="159690"/>
                </a:solidFill>
                <a:latin typeface="Microsoft YaHei"/>
              </a:defRPr>
            </a:pPr>
            <a:r>
              <a:t>-5.5%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578608"/>
            <a:ext cx="896112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0">
                <a:solidFill>
                  <a:srgbClr val="5A646E"/>
                </a:solidFill>
                <a:latin typeface="Microsoft YaHei"/>
              </a:defRPr>
            </a:pPr>
            <a:r>
              <a:t>v-mix 相对 V2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5712" y="2286000"/>
            <a:ext cx="1993392" cy="713232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368296"/>
            <a:ext cx="1755648" cy="16459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1">
                <a:solidFill>
                  <a:srgbClr val="5A646E"/>
                </a:solidFill>
                <a:latin typeface="Microsoft YaHei"/>
              </a:defRPr>
            </a:pPr>
            <a:r>
              <a:t>区间宽度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42032"/>
            <a:ext cx="841248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700" b="1">
                <a:solidFill>
                  <a:srgbClr val="DAA741"/>
                </a:solidFill>
                <a:latin typeface="Microsoft YaHei"/>
              </a:defRPr>
            </a:pPr>
            <a:r>
              <a:t>-62.6%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6688" y="2578608"/>
            <a:ext cx="896112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0">
                <a:solidFill>
                  <a:srgbClr val="5A646E"/>
                </a:solidFill>
                <a:latin typeface="Microsoft YaHei"/>
              </a:defRPr>
            </a:pPr>
            <a:r>
              <a:t>100% width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163824"/>
            <a:ext cx="1993392" cy="713232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3246120"/>
            <a:ext cx="1755648" cy="16459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1">
                <a:solidFill>
                  <a:srgbClr val="5A646E"/>
                </a:solidFill>
                <a:latin typeface="Microsoft YaHei"/>
              </a:defRPr>
            </a:pPr>
            <a:r>
              <a:t>Coverage90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419856"/>
            <a:ext cx="841248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700" b="1">
                <a:solidFill>
                  <a:srgbClr val="C84649"/>
                </a:solidFill>
                <a:latin typeface="Microsoft YaHei"/>
              </a:defRPr>
            </a:pPr>
            <a:r>
              <a:t>-28.0pp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3456432"/>
            <a:ext cx="896112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0">
                <a:solidFill>
                  <a:srgbClr val="5A646E"/>
                </a:solidFill>
                <a:latin typeface="Microsoft YaHei"/>
              </a:defRPr>
            </a:pPr>
            <a:r>
              <a:t>覆盖不足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25712" y="3163824"/>
            <a:ext cx="1993392" cy="713232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246120"/>
            <a:ext cx="1755648" cy="16459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1">
                <a:solidFill>
                  <a:srgbClr val="5A646E"/>
                </a:solidFill>
                <a:latin typeface="Microsoft YaHei"/>
              </a:defRPr>
            </a:pPr>
            <a:r>
              <a:t>ACF 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841248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700" b="1">
                <a:solidFill>
                  <a:srgbClr val="C84649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3456432"/>
            <a:ext cx="896112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19" b="0">
                <a:solidFill>
                  <a:srgbClr val="5A646E"/>
                </a:solidFill>
                <a:latin typeface="Microsoft YaHei"/>
              </a:defRPr>
            </a:pPr>
            <a:r>
              <a:t>时序结构变弱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977639"/>
            <a:ext cx="3877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20000">
              <a:spcAft>
                <a:spcPts val="500"/>
              </a:spcAft>
              <a:defRPr sz="1120">
                <a:solidFill>
                  <a:srgbClr val="23282D"/>
                </a:solidFill>
                <a:latin typeface="Microsoft YaHei"/>
              </a:defRPr>
            </a:pPr>
            <a:r>
              <a:t>结论表达建议：v-mix 提高中心轨迹精度，但概率可靠性还未达标。</a:t>
            </a:r>
          </a:p>
          <a:p>
            <a:pPr marL="180000" indent="-120000">
              <a:spcAft>
                <a:spcPts val="500"/>
              </a:spcAft>
              <a:defRPr sz="1120">
                <a:solidFill>
                  <a:srgbClr val="23282D"/>
                </a:solidFill>
                <a:latin typeface="Microsoft YaHei"/>
              </a:defRPr>
            </a:pPr>
            <a:r>
              <a:t>因此下一步应先做 guidance 诊断，而不是直接堆更复杂模型。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" y="5230368"/>
          <a:ext cx="1056132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/>
                <a:gridCol w="1760220"/>
                <a:gridCol w="1760220"/>
                <a:gridCol w="1760220"/>
                <a:gridCol w="1760220"/>
                <a:gridCol w="1760220"/>
              </a:tblGrid>
              <a:tr h="23774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MAE↓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CRPS↓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Cov90↑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Width100↓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ACF↓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V2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0.1065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0.0787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83.9%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44.72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0.0555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v-mix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0.1006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0.0824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56.0%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16.75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0.1026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50" b="0">
                <a:solidFill>
                  <a:srgbClr val="5A646E"/>
                </a:solidFill>
                <a:latin typeface="Microsoft YaHei"/>
              </a:defRPr>
            </a:pPr>
            <a:r>
              <a:t>结合预测数据的条件扩散场景生成与极端风险评价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>
              <a:defRPr sz="850" b="0">
                <a:solidFill>
                  <a:srgbClr val="5A646E"/>
                </a:solidFill>
                <a:latin typeface="Microsoft YaHei"/>
              </a:defRPr>
            </a:pPr>
            <a: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85216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050" b="1">
                <a:solidFill>
                  <a:srgbClr val="DAA741"/>
                </a:solidFill>
                <a:latin typeface="Microsoft YaHei"/>
              </a:defRPr>
            </a:pPr>
            <a:r>
              <a:t>任务3：源荷不确定性多日场景生成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2300" b="1">
                <a:solidFill>
                  <a:srgbClr val="142D4A"/>
                </a:solidFill>
                <a:latin typeface="Microsoft YaHei"/>
              </a:defRPr>
            </a:pPr>
            <a:r>
              <a:t>极端与尾部诊断：短板集中在覆盖率和风电尾部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417320"/>
          <a:ext cx="5166360" cy="22128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685032"/>
            <a:ext cx="4983480" cy="2194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080" b="0">
                <a:solidFill>
                  <a:srgbClr val="5A646E"/>
                </a:solidFill>
                <a:latin typeface="Microsoft YaHei"/>
              </a:defRPr>
            </a:pPr>
            <a:r>
              <a:t>极端子集 MAE：v-mix 在多数场景中心误差更低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89320" y="1417320"/>
          <a:ext cx="5166360" cy="22128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62472" y="3685032"/>
            <a:ext cx="4983480" cy="2194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080" b="0">
                <a:solidFill>
                  <a:srgbClr val="5A646E"/>
                </a:solidFill>
                <a:latin typeface="Microsoft YaHei"/>
              </a:defRPr>
            </a:pPr>
            <a:r>
              <a:t>极端子集 Coverage90：v-mix 系统性欠覆盖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96512"/>
            <a:ext cx="5074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251960"/>
            <a:ext cx="4617720" cy="2194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320" b="1">
                <a:solidFill>
                  <a:srgbClr val="142D4A"/>
                </a:solidFill>
                <a:latin typeface="Microsoft YaHei"/>
              </a:defRPr>
            </a:pPr>
            <a:r>
              <a:t>尾部风险证据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553712"/>
            <a:ext cx="459028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20000">
              <a:spcAft>
                <a:spcPts val="500"/>
              </a:spcAft>
              <a:defRPr sz="1150">
                <a:solidFill>
                  <a:srgbClr val="23282D"/>
                </a:solidFill>
                <a:latin typeface="Microsoft YaHei"/>
              </a:defRPr>
            </a:pPr>
            <a:r>
              <a:t>风电 tail coverage90：V2 21.3%，v-mix 0.0%。</a:t>
            </a:r>
          </a:p>
          <a:p>
            <a:pPr marL="180000" indent="-120000">
              <a:spcAft>
                <a:spcPts val="500"/>
              </a:spcAft>
              <a:defRPr sz="1150">
                <a:solidFill>
                  <a:srgbClr val="23282D"/>
                </a:solidFill>
                <a:latin typeface="Microsoft YaHei"/>
              </a:defRPr>
            </a:pPr>
            <a:r>
              <a:t>风电 rank 两端占比：V2 13.0%，v-mix 56.3%，说明真实值更常落在生成分布外。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096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4251960"/>
            <a:ext cx="4736592" cy="2194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1320" b="1">
                <a:solidFill>
                  <a:srgbClr val="142D4A"/>
                </a:solidFill>
                <a:latin typeface="Microsoft YaHei"/>
              </a:defRPr>
            </a:pPr>
            <a:r>
              <a:t>下一步安排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4553712"/>
            <a:ext cx="4645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20000">
              <a:spcAft>
                <a:spcPts val="500"/>
              </a:spcAft>
              <a:defRPr sz="1150">
                <a:solidFill>
                  <a:srgbClr val="23282D"/>
                </a:solidFill>
                <a:latin typeface="Microsoft YaHei"/>
              </a:defRPr>
            </a:pPr>
            <a:r>
              <a:t>先做 guidance scale 诊断：0.0 / 0.3 / 当前 0.5，对比 coverage 是否恢复；</a:t>
            </a:r>
          </a:p>
          <a:p>
            <a:pPr marL="180000" indent="-120000">
              <a:spcAft>
                <a:spcPts val="500"/>
              </a:spcAft>
              <a:defRPr sz="1150">
                <a:solidFill>
                  <a:srgbClr val="23282D"/>
                </a:solidFill>
                <a:latin typeface="Microsoft YaHei"/>
              </a:defRPr>
            </a:pPr>
            <a:r>
              <a:t>再引入轻量 pattern features，增强低新能源、高净负荷、高爬坡条件表达。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589520" y="5468112"/>
          <a:ext cx="329184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</a:tblGrid>
              <a:tr h="194310"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V2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v-mix</a:t>
                      </a:r>
                    </a:p>
                  </a:txBody>
                  <a:tcPr marL="36576" marR="36576" marT="18288" marB="18288">
                    <a:solidFill>
                      <a:srgbClr val="142D4A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Total P99 MAE↓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0.461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0.443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Wind Tail Cov90↑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21.3%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Wind Rank Edge↓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13.0%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3282D"/>
                          </a:solidFill>
                          <a:latin typeface="Microsoft YaHei"/>
                        </a:defRPr>
                      </a:pPr>
                      <a:r>
                        <a:t>56.3%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>
              <a:defRPr sz="850" b="0">
                <a:solidFill>
                  <a:srgbClr val="5A646E"/>
                </a:solidFill>
                <a:latin typeface="Microsoft YaHei"/>
              </a:defRPr>
            </a:pPr>
            <a:r>
              <a:t>结合预测数据的条件扩散场景生成与极端风险评价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486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>
              <a:defRPr sz="850" b="0">
                <a:solidFill>
                  <a:srgbClr val="5A646E"/>
                </a:solidFill>
                <a:latin typeface="Microsoft YaHei"/>
              </a:defRPr>
            </a:pPr>
            <a: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